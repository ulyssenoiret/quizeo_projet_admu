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60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48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385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0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84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66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910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1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01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05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5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12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80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9" name="Picture 3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0" name="Straight Connector 4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4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BF0792A-0F2B-4A2E-AB38-0A4F18A30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57DB18D-C2F1-4C8C-8808-9C01ECE68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5D935FA-3336-4941-9214-E250A5727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5671" y="644327"/>
            <a:ext cx="9299965" cy="4811366"/>
            <a:chOff x="7639235" y="600024"/>
            <a:chExt cx="3898557" cy="687892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5D9E2ED-FF90-4200-A7EE-6D41D6526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9235" y="600024"/>
              <a:ext cx="3898557" cy="6878929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A4BEB8D-68AD-4314-8A2B-F8DC85A53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0263" y="1062693"/>
              <a:ext cx="3635738" cy="59547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83F061E-99CA-0714-D0D9-3DD29AF9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408" y="1590734"/>
            <a:ext cx="7405874" cy="2520012"/>
          </a:xfrm>
          <a:solidFill>
            <a:schemeClr val="bg2"/>
          </a:solidFill>
        </p:spPr>
        <p:txBody>
          <a:bodyPr vert="horz" lIns="91440" tIns="45720" rIns="91440" bIns="0" rtlCol="0" anchor="ctr">
            <a:normAutofit/>
          </a:bodyPr>
          <a:lstStyle/>
          <a:p>
            <a:pPr algn="ctr"/>
            <a:r>
              <a:rPr lang="en-US" sz="6000" dirty="0" err="1">
                <a:solidFill>
                  <a:schemeClr val="tx2"/>
                </a:solidFill>
              </a:rPr>
              <a:t>Présentation</a:t>
            </a:r>
            <a:r>
              <a:rPr lang="en-US" sz="6000" dirty="0">
                <a:solidFill>
                  <a:schemeClr val="tx2"/>
                </a:solidFill>
              </a:rPr>
              <a:t> du </a:t>
            </a:r>
            <a:r>
              <a:rPr lang="en-US" sz="6000" dirty="0" err="1">
                <a:solidFill>
                  <a:schemeClr val="tx2"/>
                </a:solidFill>
              </a:rPr>
              <a:t>Projet</a:t>
            </a:r>
            <a:r>
              <a:rPr lang="en-US" sz="6000" dirty="0">
                <a:solidFill>
                  <a:schemeClr val="tx2"/>
                </a:solidFill>
              </a:rPr>
              <a:t> : QUIZZEO 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52EAC86-F716-060D-E321-96E6A3893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779" y="4427183"/>
            <a:ext cx="7379502" cy="522928"/>
          </a:xfrm>
        </p:spPr>
        <p:txBody>
          <a:bodyPr vert="horz" lIns="91440" tIns="91440" rIns="91440" bIns="91440" rtlCol="0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fr-FR" sz="1600" dirty="0"/>
              <a:t>Adrien SIMOES FERREIRA, Maxim NOCELLA, Damien BOUZIANI, Ulysse NOIRET</a:t>
            </a:r>
            <a:endParaRPr lang="en-US" sz="1500" cap="all" dirty="0">
              <a:solidFill>
                <a:srgbClr val="000000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7F797D1-251E-41FE-9FF8-AD487DEF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1416139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9A0CE28-0E59-4F4D-9855-8A8DCE9A8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391407" y="4285341"/>
            <a:ext cx="74058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75CC23F7-9F20-4C4B-8608-BD4DE9728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6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A279A-A735-0526-D865-D638F95B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16C9EE-A0D3-583D-1772-8752B14E7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B4D011-091A-6664-9249-1A396BF2F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975FAC4-E68E-CA59-5A26-0C6E8AF5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anchor="ctr">
            <a:normAutofit/>
          </a:bodyPr>
          <a:lstStyle/>
          <a:p>
            <a:r>
              <a:rPr lang="fr-FR" sz="3600" dirty="0"/>
              <a:t>Introduction et Objectifs 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5340B2-D31E-B7FB-2B63-9F23ACC57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B566C5-8B9D-13D8-88F0-F26422DA2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2DE4EE-E643-F35A-D625-8E46B1E67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5F4A989-007B-0CB5-4FFA-FF6DC032E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D73781B-A4A0-6CB5-BCDC-B79DC15BC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anchor="ctr">
            <a:normAutofit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fr-FR" sz="1300" b="1" dirty="0">
                <a:solidFill>
                  <a:srgbClr val="000000"/>
                </a:solidFill>
              </a:rPr>
              <a:t>Contexte :</a:t>
            </a:r>
            <a:r>
              <a:rPr lang="fr-FR" sz="1300" dirty="0">
                <a:solidFill>
                  <a:srgbClr val="000000"/>
                </a:solidFill>
              </a:rPr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300" dirty="0">
                <a:solidFill>
                  <a:srgbClr val="000000"/>
                </a:solidFill>
              </a:rPr>
              <a:t>Client : Société QUIZZEO (Start-up spécialisée dans les quiz en ligne). </a:t>
            </a:r>
          </a:p>
          <a:p>
            <a:pPr fontAlgn="base">
              <a:lnSpc>
                <a:spcPct val="110000"/>
              </a:lnSpc>
            </a:pPr>
            <a:r>
              <a:rPr lang="fr-FR" sz="1300" dirty="0">
                <a:solidFill>
                  <a:srgbClr val="000000"/>
                </a:solidFill>
              </a:rPr>
              <a:t>Besoin : Plateforme web modulaire pour créer, gérer et répondre à des questionnaires. </a:t>
            </a:r>
          </a:p>
          <a:p>
            <a:pPr fontAlgn="base">
              <a:lnSpc>
                <a:spcPct val="110000"/>
              </a:lnSpc>
            </a:pPr>
            <a:r>
              <a:rPr lang="fr-FR" sz="1300" dirty="0">
                <a:solidFill>
                  <a:srgbClr val="000000"/>
                </a:solidFill>
              </a:rPr>
              <a:t>Cibles : Écoles (Quiz notés), Entreprises (Sondages), Utilisateurs (Participants).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300" b="1" dirty="0">
                <a:solidFill>
                  <a:srgbClr val="000000"/>
                </a:solidFill>
              </a:rPr>
              <a:t>Objectifs Principaux :</a:t>
            </a:r>
            <a:r>
              <a:rPr lang="fr-FR" sz="1300" dirty="0">
                <a:solidFill>
                  <a:srgbClr val="000000"/>
                </a:solidFill>
              </a:rPr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300" dirty="0">
                <a:solidFill>
                  <a:srgbClr val="000000"/>
                </a:solidFill>
              </a:rPr>
              <a:t>Créer une interface simple et ergonomique. </a:t>
            </a:r>
          </a:p>
          <a:p>
            <a:pPr fontAlgn="base">
              <a:lnSpc>
                <a:spcPct val="110000"/>
              </a:lnSpc>
            </a:pPr>
            <a:r>
              <a:rPr lang="fr-FR" sz="1300" dirty="0">
                <a:solidFill>
                  <a:srgbClr val="000000"/>
                </a:solidFill>
              </a:rPr>
              <a:t>Gérer différents rôles (Admin, École, Entreprise, Utilisateur). </a:t>
            </a:r>
          </a:p>
          <a:p>
            <a:pPr fontAlgn="base">
              <a:lnSpc>
                <a:spcPct val="110000"/>
              </a:lnSpc>
            </a:pPr>
            <a:r>
              <a:rPr lang="fr-FR" sz="1300" dirty="0">
                <a:solidFill>
                  <a:srgbClr val="000000"/>
                </a:solidFill>
              </a:rPr>
              <a:t>Permettre la création dynamique de quiz (QCM, Réponses Libres). </a:t>
            </a:r>
          </a:p>
          <a:p>
            <a:pPr fontAlgn="base">
              <a:lnSpc>
                <a:spcPct val="110000"/>
              </a:lnSpc>
            </a:pPr>
            <a:r>
              <a:rPr lang="fr-FR" sz="1300" dirty="0">
                <a:solidFill>
                  <a:srgbClr val="000000"/>
                </a:solidFill>
              </a:rPr>
              <a:t>Assurer la sécurité (Authentification, Hachage, Captcha). </a:t>
            </a:r>
          </a:p>
          <a:p>
            <a:pPr>
              <a:lnSpc>
                <a:spcPct val="110000"/>
              </a:lnSpc>
            </a:pPr>
            <a:endParaRPr lang="fr-FR" sz="1300" dirty="0">
              <a:solidFill>
                <a:srgbClr val="0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57BCE0-BAF0-414E-9BFE-246BF3536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D74C72-81E2-1426-226A-2A618C067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22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8" name="Rectangle 1067">
            <a:extLst>
              <a:ext uri="{FF2B5EF4-FFF2-40B4-BE49-F238E27FC236}">
                <a16:creationId xmlns:a16="http://schemas.microsoft.com/office/drawing/2014/main" id="{3193BA5C-B8F3-4972-BA54-014C48FA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9" name="Straight Connector 1053">
            <a:extLst>
              <a:ext uri="{FF2B5EF4-FFF2-40B4-BE49-F238E27FC236}">
                <a16:creationId xmlns:a16="http://schemas.microsoft.com/office/drawing/2014/main" id="{D7162BAB-C25E-4CE9-B87C-F118DC7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E7754FE5-FA9D-3B83-272C-A38E4627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fr-FR" sz="2700" dirty="0"/>
              <a:t>Choix Techniques et Architecture </a:t>
            </a: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05B93327-222A-4DAC-9163-371BF44C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7E23EB-B8E2-5F75-157D-FEB47C8B6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 lnSpcReduction="10000"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fr-FR" sz="1100" b="1" dirty="0"/>
              <a:t>Stack Technologique :</a:t>
            </a:r>
            <a:r>
              <a:rPr lang="fr-FR" sz="1100" dirty="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100" b="1" dirty="0" err="1"/>
              <a:t>Back-end</a:t>
            </a:r>
            <a:r>
              <a:rPr lang="fr-FR" sz="1100" b="1" dirty="0"/>
              <a:t> :</a:t>
            </a:r>
            <a:r>
              <a:rPr lang="fr-FR" sz="1100" dirty="0"/>
              <a:t> PHP Natif (Sans </a:t>
            </a:r>
            <a:r>
              <a:rPr lang="fr-FR" sz="1100" dirty="0" err="1"/>
              <a:t>framework</a:t>
            </a:r>
            <a:r>
              <a:rPr lang="fr-FR" sz="1100" dirty="0"/>
              <a:t>, pour la performance et la maîtrise du code). </a:t>
            </a:r>
          </a:p>
          <a:p>
            <a:pPr fontAlgn="base">
              <a:lnSpc>
                <a:spcPct val="110000"/>
              </a:lnSpc>
            </a:pPr>
            <a:r>
              <a:rPr lang="fr-FR" sz="1100" b="1" dirty="0"/>
              <a:t>Base de Données :</a:t>
            </a:r>
            <a:r>
              <a:rPr lang="fr-FR" sz="1100" dirty="0"/>
              <a:t> MySQL (Structure relationnelle robuste). </a:t>
            </a:r>
          </a:p>
          <a:p>
            <a:pPr fontAlgn="base">
              <a:lnSpc>
                <a:spcPct val="110000"/>
              </a:lnSpc>
            </a:pPr>
            <a:r>
              <a:rPr lang="fr-FR" sz="1100" b="1" dirty="0" err="1"/>
              <a:t>Front-end</a:t>
            </a:r>
            <a:r>
              <a:rPr lang="fr-FR" sz="1100" b="1" dirty="0"/>
              <a:t> :</a:t>
            </a:r>
            <a:r>
              <a:rPr lang="fr-FR" sz="1100" dirty="0"/>
              <a:t> HTML5, CSS3 (Style personnalisé sans </a:t>
            </a:r>
            <a:r>
              <a:rPr lang="fr-FR" sz="1100" dirty="0" err="1"/>
              <a:t>framework</a:t>
            </a:r>
            <a:r>
              <a:rPr lang="fr-FR" sz="1100" dirty="0"/>
              <a:t> lourd).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100" b="1" dirty="0"/>
              <a:t>Architecture MVC Simplifiée :</a:t>
            </a:r>
            <a:r>
              <a:rPr lang="fr-FR" sz="1100" dirty="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100" b="1" dirty="0"/>
              <a:t>Modèle (Données) :</a:t>
            </a:r>
            <a:r>
              <a:rPr lang="fr-FR" sz="1100" dirty="0"/>
              <a:t> Base de données </a:t>
            </a:r>
            <a:r>
              <a:rPr lang="fr-FR" sz="1100" dirty="0" err="1"/>
              <a:t>db_quizzeo</a:t>
            </a:r>
            <a:r>
              <a:rPr lang="fr-FR" sz="1100" dirty="0"/>
              <a:t> (Tables utilisateur, quiz, question, </a:t>
            </a:r>
            <a:r>
              <a:rPr lang="fr-FR" sz="1100" dirty="0" err="1"/>
              <a:t>resultat</a:t>
            </a:r>
            <a:r>
              <a:rPr lang="fr-FR" sz="1100" dirty="0"/>
              <a:t>). </a:t>
            </a:r>
          </a:p>
          <a:p>
            <a:pPr fontAlgn="base">
              <a:lnSpc>
                <a:spcPct val="110000"/>
              </a:lnSpc>
            </a:pPr>
            <a:r>
              <a:rPr lang="fr-FR" sz="1100" b="1" dirty="0"/>
              <a:t>Vue (Interface) :</a:t>
            </a:r>
            <a:r>
              <a:rPr lang="fr-FR" sz="1100" dirty="0"/>
              <a:t> Fichiers .</a:t>
            </a:r>
            <a:r>
              <a:rPr lang="fr-FR" sz="1100" dirty="0" err="1"/>
              <a:t>php</a:t>
            </a:r>
            <a:r>
              <a:rPr lang="fr-FR" sz="1100" dirty="0"/>
              <a:t> générant le HTML (ex: </a:t>
            </a:r>
            <a:r>
              <a:rPr lang="fr-FR" sz="1100" dirty="0" err="1"/>
              <a:t>ecole_home.php</a:t>
            </a:r>
            <a:r>
              <a:rPr lang="fr-FR" sz="1100" dirty="0"/>
              <a:t>). </a:t>
            </a:r>
          </a:p>
          <a:p>
            <a:pPr fontAlgn="base">
              <a:lnSpc>
                <a:spcPct val="110000"/>
              </a:lnSpc>
            </a:pPr>
            <a:r>
              <a:rPr lang="fr-FR" sz="1100" b="1" dirty="0"/>
              <a:t>Contrôleur (Logique) :</a:t>
            </a:r>
            <a:r>
              <a:rPr lang="fr-FR" sz="1100" dirty="0"/>
              <a:t> Scripts de traitement (ex: </a:t>
            </a:r>
            <a:r>
              <a:rPr lang="fr-FR" sz="1100" dirty="0" err="1"/>
              <a:t>traitement_connexion.php</a:t>
            </a:r>
            <a:r>
              <a:rPr lang="fr-FR" sz="1100" dirty="0"/>
              <a:t>, </a:t>
            </a:r>
            <a:r>
              <a:rPr lang="fr-FR" sz="1100" dirty="0" err="1"/>
              <a:t>dashboard.php</a:t>
            </a:r>
            <a:r>
              <a:rPr lang="fr-FR" sz="1100" dirty="0"/>
              <a:t>). </a:t>
            </a:r>
          </a:p>
          <a:p>
            <a:pPr>
              <a:lnSpc>
                <a:spcPct val="110000"/>
              </a:lnSpc>
            </a:pPr>
            <a:endParaRPr lang="fr-FR" sz="1000" dirty="0"/>
          </a:p>
        </p:txBody>
      </p:sp>
      <p:grpSp>
        <p:nvGrpSpPr>
          <p:cNvPr id="1071" name="Group 1057">
            <a:extLst>
              <a:ext uri="{FF2B5EF4-FFF2-40B4-BE49-F238E27FC236}">
                <a16:creationId xmlns:a16="http://schemas.microsoft.com/office/drawing/2014/main" id="{14EE34E3-F117-4487-8ACF-33DA65FA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60131" y="482171"/>
            <a:chExt cx="6091791" cy="5149101"/>
          </a:xfrm>
        </p:grpSpPr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39ACC02C-6424-4165-93C4-E83C8E81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60131" y="482171"/>
              <a:ext cx="609179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C182CB9C-C978-4C9B-9AAD-8B134189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78956" y="812507"/>
              <a:ext cx="5461780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56388820-A63D-463C-9DBC-060A5ABE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2379" y="977965"/>
            <a:ext cx="5134631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mage de Diagramme architecture MVC simplifié PHP">
            <a:extLst>
              <a:ext uri="{FF2B5EF4-FFF2-40B4-BE49-F238E27FC236}">
                <a16:creationId xmlns:a16="http://schemas.microsoft.com/office/drawing/2014/main" id="{2D8F030E-EB68-4F1C-6306-0CAFA54CA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3926" y="1850070"/>
            <a:ext cx="4821551" cy="239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1063">
            <a:extLst>
              <a:ext uri="{FF2B5EF4-FFF2-40B4-BE49-F238E27FC236}">
                <a16:creationId xmlns:a16="http://schemas.microsoft.com/office/drawing/2014/main" id="{C04ED70F-D6FD-4EB1-A171-D30F885FE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75" name="Straight Connector 1065">
            <a:extLst>
              <a:ext uri="{FF2B5EF4-FFF2-40B4-BE49-F238E27FC236}">
                <a16:creationId xmlns:a16="http://schemas.microsoft.com/office/drawing/2014/main" id="{DA26CAE9-74C4-4EDD-8A80-77F79EAA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72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7FA4D42-65A2-43F3-B3E9-FD6D6030D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FD2CDA-D2E2-4E29-862F-3EF51E21D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28" name="Group 13">
            <a:extLst>
              <a:ext uri="{FF2B5EF4-FFF2-40B4-BE49-F238E27FC236}">
                <a16:creationId xmlns:a16="http://schemas.microsoft.com/office/drawing/2014/main" id="{B071059D-2A1C-4086-9685-CD5E7444B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8" y="482171"/>
            <a:ext cx="4641751" cy="5149101"/>
            <a:chOff x="632238" y="482171"/>
            <a:chExt cx="4641751" cy="514910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9CB73A-BE1E-44A1-B082-574755C8C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8" y="482171"/>
              <a:ext cx="464175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7674C1A-A7A7-4416-A164-BCAECE838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7" y="812507"/>
              <a:ext cx="4001652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12A852B-0DE0-4F26-B397-1E207E047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042" y="977965"/>
            <a:ext cx="3671211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19">
            <a:extLst>
              <a:ext uri="{FF2B5EF4-FFF2-40B4-BE49-F238E27FC236}">
                <a16:creationId xmlns:a16="http://schemas.microsoft.com/office/drawing/2014/main" id="{F92E1EA7-582F-4962-9969-DC469519F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3317" y="1847088"/>
            <a:ext cx="498508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E550D4D9-6E3A-AA8E-0994-B2074CFD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318" y="804520"/>
            <a:ext cx="4985079" cy="1049235"/>
          </a:xfrm>
        </p:spPr>
        <p:txBody>
          <a:bodyPr>
            <a:normAutofit/>
          </a:bodyPr>
          <a:lstStyle/>
          <a:p>
            <a:r>
              <a:rPr lang="fr-FR"/>
              <a:t>Modélisation de la Base de Données</a:t>
            </a:r>
            <a:endParaRPr lang="fr-FR" dirty="0"/>
          </a:p>
        </p:txBody>
      </p:sp>
      <p:pic>
        <p:nvPicPr>
          <p:cNvPr id="32" name="Graphic 6" descr="Hiérarchie">
            <a:extLst>
              <a:ext uri="{FF2B5EF4-FFF2-40B4-BE49-F238E27FC236}">
                <a16:creationId xmlns:a16="http://schemas.microsoft.com/office/drawing/2014/main" id="{873F9745-A2C4-88D4-985E-758926F5E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223" y="1368360"/>
            <a:ext cx="3362141" cy="336214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F2FA68-1C26-A46E-32F8-CF9B02E64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317" y="2015732"/>
            <a:ext cx="4985080" cy="3450613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fr-FR" sz="1200" b="1" dirty="0"/>
              <a:t>Structure Clé :</a:t>
            </a:r>
            <a:r>
              <a:rPr lang="fr-FR" sz="1200" dirty="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200" b="1" dirty="0"/>
              <a:t>Table Unique utilisateur :</a:t>
            </a:r>
            <a:r>
              <a:rPr lang="fr-FR" sz="1200" dirty="0"/>
              <a:t> Gestion centralisée des comptes avec un champ </a:t>
            </a:r>
            <a:r>
              <a:rPr lang="fr-FR" sz="1200" dirty="0" err="1"/>
              <a:t>role</a:t>
            </a:r>
            <a:r>
              <a:rPr lang="fr-FR" sz="1200" dirty="0"/>
              <a:t> (ENUM). </a:t>
            </a:r>
          </a:p>
          <a:p>
            <a:pPr fontAlgn="base">
              <a:lnSpc>
                <a:spcPct val="110000"/>
              </a:lnSpc>
            </a:pPr>
            <a:r>
              <a:rPr lang="fr-FR" sz="1200" b="1" dirty="0"/>
              <a:t>Table quiz :</a:t>
            </a:r>
            <a:r>
              <a:rPr lang="fr-FR" sz="1200" dirty="0"/>
              <a:t> Liée au créateur. Statuts : </a:t>
            </a:r>
            <a:r>
              <a:rPr lang="fr-FR" sz="1200" dirty="0" err="1"/>
              <a:t>en_cours_ecriture</a:t>
            </a:r>
            <a:r>
              <a:rPr lang="fr-FR" sz="1200" dirty="0"/>
              <a:t>, lance, termine. </a:t>
            </a:r>
          </a:p>
          <a:p>
            <a:pPr fontAlgn="base">
              <a:lnSpc>
                <a:spcPct val="110000"/>
              </a:lnSpc>
            </a:pPr>
            <a:r>
              <a:rPr lang="fr-FR" sz="1200" b="1" dirty="0"/>
              <a:t>Tables de Contenu :</a:t>
            </a:r>
            <a:r>
              <a:rPr lang="fr-FR" sz="1200" dirty="0"/>
              <a:t> question (Type QCM ou Libre) et </a:t>
            </a:r>
            <a:r>
              <a:rPr lang="fr-FR" sz="1200" dirty="0" err="1"/>
              <a:t>reponse_proposee</a:t>
            </a:r>
            <a:r>
              <a:rPr lang="fr-FR" sz="1200" dirty="0"/>
              <a:t>. </a:t>
            </a:r>
          </a:p>
          <a:p>
            <a:pPr fontAlgn="base">
              <a:lnSpc>
                <a:spcPct val="110000"/>
              </a:lnSpc>
            </a:pPr>
            <a:r>
              <a:rPr lang="fr-FR" sz="1200" b="1" dirty="0"/>
              <a:t>Tables de Suivi :</a:t>
            </a:r>
            <a:r>
              <a:rPr lang="fr-FR" sz="1200" dirty="0"/>
              <a:t> </a:t>
            </a:r>
            <a:r>
              <a:rPr lang="fr-FR" sz="1200" dirty="0" err="1"/>
              <a:t>resultat_utilisateur</a:t>
            </a:r>
            <a:r>
              <a:rPr lang="fr-FR" sz="1200" dirty="0"/>
              <a:t> (Note globale) et </a:t>
            </a:r>
            <a:r>
              <a:rPr lang="fr-FR" sz="1200" dirty="0" err="1"/>
              <a:t>reponse_utilisateur</a:t>
            </a:r>
            <a:r>
              <a:rPr lang="fr-FR" sz="1200" dirty="0"/>
              <a:t> (Détail).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200" b="1" dirty="0"/>
              <a:t>Extrait SQL (Création Utilisateur) :</a:t>
            </a:r>
            <a:r>
              <a:rPr lang="fr-FR" sz="1200" dirty="0"/>
              <a:t>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200" dirty="0"/>
              <a:t>CREATE TABLE utilisateur ( </a:t>
            </a:r>
            <a:br>
              <a:rPr lang="fr-FR" sz="1200" dirty="0"/>
            </a:br>
            <a:r>
              <a:rPr lang="fr-FR" sz="1200" dirty="0"/>
              <a:t>    </a:t>
            </a:r>
            <a:r>
              <a:rPr lang="fr-FR" sz="1200" dirty="0" err="1"/>
              <a:t>id_utilisateur</a:t>
            </a:r>
            <a:r>
              <a:rPr lang="fr-FR" sz="1200" dirty="0"/>
              <a:t> INT UNSIGNED PRIMARY KEY AUTO_INCREMENT, </a:t>
            </a:r>
            <a:br>
              <a:rPr lang="fr-FR" sz="1200" dirty="0"/>
            </a:br>
            <a:r>
              <a:rPr lang="fr-FR" sz="1200" dirty="0"/>
              <a:t>    </a:t>
            </a:r>
            <a:r>
              <a:rPr lang="fr-FR" sz="1200" dirty="0" err="1"/>
              <a:t>nom_compte</a:t>
            </a:r>
            <a:r>
              <a:rPr lang="fr-FR" sz="1200" dirty="0"/>
              <a:t> VARCHAR(100) NOT NULL UNIQUE, </a:t>
            </a:r>
            <a:br>
              <a:rPr lang="fr-FR" sz="1200" dirty="0"/>
            </a:br>
            <a:r>
              <a:rPr lang="fr-FR" sz="1200" dirty="0"/>
              <a:t>    </a:t>
            </a:r>
            <a:r>
              <a:rPr lang="fr-FR" sz="1200" dirty="0" err="1"/>
              <a:t>mot_de_passe</a:t>
            </a:r>
            <a:r>
              <a:rPr lang="fr-FR" sz="1200" dirty="0"/>
              <a:t> VARCHAR(255) NOT NULL, </a:t>
            </a:r>
            <a:br>
              <a:rPr lang="fr-FR" sz="1200" dirty="0"/>
            </a:br>
            <a:r>
              <a:rPr lang="fr-FR" sz="1200" dirty="0"/>
              <a:t>    </a:t>
            </a:r>
            <a:r>
              <a:rPr lang="fr-FR" sz="1200" dirty="0" err="1"/>
              <a:t>role</a:t>
            </a:r>
            <a:r>
              <a:rPr lang="fr-FR" sz="1200" dirty="0"/>
              <a:t> ENUM('administrateur', '</a:t>
            </a:r>
            <a:r>
              <a:rPr lang="fr-FR" sz="1200" dirty="0" err="1"/>
              <a:t>ecole</a:t>
            </a:r>
            <a:r>
              <a:rPr lang="fr-FR" sz="1200" dirty="0"/>
              <a:t>', 'entreprise', '</a:t>
            </a:r>
            <a:r>
              <a:rPr lang="fr-FR" sz="1200" dirty="0" err="1"/>
              <a:t>simple_utilisateur</a:t>
            </a:r>
            <a:r>
              <a:rPr lang="fr-FR" sz="1200" dirty="0"/>
              <a:t>') NOT NULL, </a:t>
            </a:r>
            <a:br>
              <a:rPr lang="fr-FR" sz="1200" dirty="0"/>
            </a:br>
            <a:r>
              <a:rPr lang="fr-FR" sz="1200" dirty="0"/>
              <a:t>    </a:t>
            </a:r>
            <a:r>
              <a:rPr lang="fr-FR" sz="1200" dirty="0" err="1"/>
              <a:t>est_actif</a:t>
            </a:r>
            <a:r>
              <a:rPr lang="fr-FR" sz="1200" dirty="0"/>
              <a:t> BOOLEAN DEFAULT TRUE </a:t>
            </a:r>
            <a:br>
              <a:rPr lang="fr-FR" sz="1200" dirty="0"/>
            </a:br>
            <a:r>
              <a:rPr lang="fr-FR" sz="1200" dirty="0"/>
              <a:t>); </a:t>
            </a:r>
            <a:br>
              <a:rPr lang="fr-FR" sz="1200" dirty="0"/>
            </a:br>
            <a:endParaRPr lang="fr-FR" sz="1200" dirty="0"/>
          </a:p>
          <a:p>
            <a:pPr>
              <a:lnSpc>
                <a:spcPct val="110000"/>
              </a:lnSpc>
            </a:pPr>
            <a:endParaRPr lang="fr-FR" sz="1000" dirty="0"/>
          </a:p>
        </p:txBody>
      </p:sp>
      <p:pic>
        <p:nvPicPr>
          <p:cNvPr id="33" name="Picture 21">
            <a:extLst>
              <a:ext uri="{FF2B5EF4-FFF2-40B4-BE49-F238E27FC236}">
                <a16:creationId xmlns:a16="http://schemas.microsoft.com/office/drawing/2014/main" id="{902AF165-73E4-493F-80C2-C80E393F6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4" name="Straight Connector 23">
            <a:extLst>
              <a:ext uri="{FF2B5EF4-FFF2-40B4-BE49-F238E27FC236}">
                <a16:creationId xmlns:a16="http://schemas.microsoft.com/office/drawing/2014/main" id="{2CBFBA1A-A6D7-47C1-ACBB-29FBCFF0B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51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BE214B-2C92-47AF-8D90-698211103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6D07CD-E0E5-42ED-BA28-6CB6ADC3B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A552350C-4E0F-3298-4BB9-F3B386D8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5550355" cy="1049235"/>
          </a:xfrm>
        </p:spPr>
        <p:txBody>
          <a:bodyPr>
            <a:normAutofit/>
          </a:bodyPr>
          <a:lstStyle/>
          <a:p>
            <a:r>
              <a:rPr lang="fr-FR"/>
              <a:t>Authentification Sécurisée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9A020F-4984-4DD0-898A-B60A4882B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4C9C2B91-AD0E-BE71-A517-FC5C27E8D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550355" cy="3450613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fr-FR" sz="1000" b="1" dirty="0"/>
              <a:t>Points Forts :</a:t>
            </a:r>
            <a:r>
              <a:rPr lang="fr-FR" sz="1000" dirty="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000" b="1" dirty="0"/>
              <a:t>Hachage des Mots de Passe :</a:t>
            </a:r>
            <a:r>
              <a:rPr lang="fr-FR" sz="1000" dirty="0"/>
              <a:t> Utilisation de </a:t>
            </a:r>
            <a:r>
              <a:rPr lang="fr-FR" sz="1000" dirty="0" err="1"/>
              <a:t>password_hash</a:t>
            </a:r>
            <a:r>
              <a:rPr lang="fr-FR" sz="1000" dirty="0"/>
              <a:t>() (</a:t>
            </a:r>
            <a:r>
              <a:rPr lang="fr-FR" sz="1000" dirty="0" err="1"/>
              <a:t>bcrypt</a:t>
            </a:r>
            <a:r>
              <a:rPr lang="fr-FR" sz="1000" dirty="0"/>
              <a:t>) et </a:t>
            </a:r>
            <a:r>
              <a:rPr lang="fr-FR" sz="1000" dirty="0" err="1"/>
              <a:t>password_verify</a:t>
            </a:r>
            <a:r>
              <a:rPr lang="fr-FR" sz="1000" dirty="0"/>
              <a:t>(). </a:t>
            </a:r>
          </a:p>
          <a:p>
            <a:pPr fontAlgn="base">
              <a:lnSpc>
                <a:spcPct val="110000"/>
              </a:lnSpc>
            </a:pPr>
            <a:r>
              <a:rPr lang="fr-FR" sz="1000" b="1" dirty="0"/>
              <a:t>Contrôle de Session :</a:t>
            </a:r>
            <a:r>
              <a:rPr lang="fr-FR" sz="1000" dirty="0"/>
              <a:t> Fichier </a:t>
            </a:r>
            <a:r>
              <a:rPr lang="fr-FR" sz="1000" dirty="0" err="1"/>
              <a:t>check_session.php</a:t>
            </a:r>
            <a:r>
              <a:rPr lang="fr-FR" sz="1000" dirty="0"/>
              <a:t> inclus sur toutes les pages sécurisées. </a:t>
            </a:r>
          </a:p>
          <a:p>
            <a:pPr fontAlgn="base">
              <a:lnSpc>
                <a:spcPct val="110000"/>
              </a:lnSpc>
            </a:pPr>
            <a:r>
              <a:rPr lang="fr-FR" sz="1000" b="1" dirty="0"/>
              <a:t>Redirection par Rôle :</a:t>
            </a:r>
            <a:r>
              <a:rPr lang="fr-FR" sz="1000" dirty="0"/>
              <a:t> Le script </a:t>
            </a:r>
            <a:r>
              <a:rPr lang="fr-FR" sz="1000" dirty="0" err="1"/>
              <a:t>dashboard.php</a:t>
            </a:r>
            <a:r>
              <a:rPr lang="fr-FR" sz="1000" dirty="0"/>
              <a:t> dirige l'utilisateur vers son espace dédié.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000" b="1" dirty="0"/>
              <a:t>Code Clé (</a:t>
            </a:r>
            <a:r>
              <a:rPr lang="fr-FR" sz="1000" b="1" dirty="0" err="1"/>
              <a:t>dashboard.php</a:t>
            </a:r>
            <a:r>
              <a:rPr lang="fr-FR" sz="1000" b="1" dirty="0"/>
              <a:t>) :</a:t>
            </a:r>
            <a:r>
              <a:rPr lang="fr-FR" sz="1000" dirty="0"/>
              <a:t>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000" dirty="0"/>
              <a:t>// Vérification de session </a:t>
            </a:r>
            <a:br>
              <a:rPr lang="fr-FR" sz="1000" dirty="0"/>
            </a:br>
            <a:r>
              <a:rPr lang="fr-FR" sz="1000" dirty="0"/>
              <a:t>if (!</a:t>
            </a:r>
            <a:r>
              <a:rPr lang="fr-FR" sz="1000" dirty="0" err="1"/>
              <a:t>isset</a:t>
            </a:r>
            <a:r>
              <a:rPr lang="fr-FR" sz="1000" dirty="0"/>
              <a:t>($_SESSION["</a:t>
            </a:r>
            <a:r>
              <a:rPr lang="fr-FR" sz="1000" dirty="0" err="1"/>
              <a:t>loggedin</a:t>
            </a:r>
            <a:r>
              <a:rPr lang="fr-FR" sz="1000" dirty="0"/>
              <a:t>"]) || $_SESSION["</a:t>
            </a:r>
            <a:r>
              <a:rPr lang="fr-FR" sz="1000" dirty="0" err="1"/>
              <a:t>loggedin</a:t>
            </a:r>
            <a:r>
              <a:rPr lang="fr-FR" sz="1000" dirty="0"/>
              <a:t>"] !== </a:t>
            </a:r>
            <a:r>
              <a:rPr lang="fr-FR" sz="1000" dirty="0" err="1"/>
              <a:t>true</a:t>
            </a:r>
            <a:r>
              <a:rPr lang="fr-FR" sz="1000" dirty="0"/>
              <a:t>) { </a:t>
            </a:r>
            <a:br>
              <a:rPr lang="fr-FR" sz="1000" dirty="0"/>
            </a:br>
            <a:r>
              <a:rPr lang="fr-FR" sz="1000" dirty="0"/>
              <a:t>    header("location: index.html"); </a:t>
            </a:r>
            <a:br>
              <a:rPr lang="fr-FR" sz="1000" dirty="0"/>
            </a:br>
            <a:r>
              <a:rPr lang="fr-FR" sz="1000" dirty="0"/>
              <a:t>    exit; </a:t>
            </a:r>
            <a:br>
              <a:rPr lang="fr-FR" sz="1000" dirty="0"/>
            </a:br>
            <a:r>
              <a:rPr lang="fr-FR" sz="1000" dirty="0"/>
              <a:t>} </a:t>
            </a:r>
            <a:br>
              <a:rPr lang="fr-FR" sz="1000" dirty="0"/>
            </a:br>
            <a:r>
              <a:rPr lang="fr-FR" sz="1000" dirty="0"/>
              <a:t>// Redirection selon le rôle </a:t>
            </a:r>
            <a:br>
              <a:rPr lang="fr-FR" sz="1000" dirty="0"/>
            </a:br>
            <a:r>
              <a:rPr lang="fr-FR" sz="1000" dirty="0"/>
              <a:t>switch ($_SESSION['</a:t>
            </a:r>
            <a:r>
              <a:rPr lang="fr-FR" sz="1000" dirty="0" err="1"/>
              <a:t>role</a:t>
            </a:r>
            <a:r>
              <a:rPr lang="fr-FR" sz="1000" dirty="0"/>
              <a:t>']) { </a:t>
            </a:r>
            <a:br>
              <a:rPr lang="fr-FR" sz="1000" dirty="0"/>
            </a:br>
            <a:r>
              <a:rPr lang="fr-FR" sz="1000" dirty="0"/>
              <a:t>    case '</a:t>
            </a:r>
            <a:r>
              <a:rPr lang="fr-FR" sz="1000" dirty="0" err="1"/>
              <a:t>ecole</a:t>
            </a:r>
            <a:r>
              <a:rPr lang="fr-FR" sz="1000" dirty="0"/>
              <a:t>': header('Location: </a:t>
            </a:r>
            <a:r>
              <a:rPr lang="fr-FR" sz="1000" dirty="0" err="1"/>
              <a:t>ecole_home.php</a:t>
            </a:r>
            <a:r>
              <a:rPr lang="fr-FR" sz="1000" dirty="0"/>
              <a:t>'); break; </a:t>
            </a:r>
            <a:br>
              <a:rPr lang="fr-FR" sz="1000" dirty="0"/>
            </a:br>
            <a:r>
              <a:rPr lang="fr-FR" sz="1000" dirty="0"/>
              <a:t>    // ... autres cas </a:t>
            </a:r>
            <a:br>
              <a:rPr lang="fr-FR" sz="1000" dirty="0"/>
            </a:br>
            <a:r>
              <a:rPr lang="fr-FR" sz="1000" dirty="0"/>
              <a:t>} </a:t>
            </a:r>
            <a:br>
              <a:rPr lang="fr-FR" sz="1000" dirty="0"/>
            </a:br>
            <a:r>
              <a:rPr lang="fr-FR" sz="1000" dirty="0"/>
              <a:t> 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761B47-AE33-47C9-9636-19D4B313F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77388" y="482171"/>
            <a:chExt cx="4074533" cy="514910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E204B78-8026-4E1E-9C59-5F523ECDD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DDEB6F1-F54D-4345-B8DF-72D72C71EC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380F474-D468-4F2F-8BE9-F343F8D1A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1624" y="977965"/>
            <a:ext cx="3119444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57EBBD-8611-41C1-8124-C151D095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0D0D8B-2D5E-48A4-BBD5-8CB09A86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Sécurité informatique - Icônes ordinateur gratuites">
            <a:extLst>
              <a:ext uri="{FF2B5EF4-FFF2-40B4-BE49-F238E27FC236}">
                <a16:creationId xmlns:a16="http://schemas.microsoft.com/office/drawing/2014/main" id="{825CB061-F092-1E31-A4A2-D670AD70F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598" y="1524078"/>
            <a:ext cx="2981325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88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4A106-CF0E-0C50-0FE5-CA194FAE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DCAE8A4-00FA-ADA2-DB52-40B7D6CA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8AE5BE-857B-F9FB-5DF5-8C82846D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E2A13C96-491B-21C6-135C-96BB4854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5550355" cy="1049235"/>
          </a:xfrm>
        </p:spPr>
        <p:txBody>
          <a:bodyPr>
            <a:normAutofit/>
          </a:bodyPr>
          <a:lstStyle/>
          <a:p>
            <a:r>
              <a:rPr lang="fr-FR" dirty="0"/>
              <a:t>Création Dynamique de Quiz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22CEC6-B7A8-6D61-676C-018A3FA11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CBBCA534-AEA7-A873-7D28-DB985089F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550355" cy="3450613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fr-FR" sz="1000" dirty="0"/>
              <a:t> 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AA490E-FE40-D61B-F10A-36657286E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77388" y="482171"/>
            <a:chExt cx="4074533" cy="514910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6A78CD-F9BC-F930-99BD-2DF61CE4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77388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A6EE66-0F1A-02AD-CA3F-3B5F2DC7F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47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DE092CE-1B67-292A-8930-1888C6DFA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1624" y="977965"/>
            <a:ext cx="3119444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19DCDF-9E39-D7DF-D3C5-422CAD6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8ED6B0F-64E9-E1D6-7939-46E20B6D5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3F6EFC1-B36C-3D31-70E6-5582DC3245E0}"/>
              </a:ext>
            </a:extLst>
          </p:cNvPr>
          <p:cNvSpPr txBox="1">
            <a:spLocks/>
          </p:cNvSpPr>
          <p:nvPr/>
        </p:nvSpPr>
        <p:spPr>
          <a:xfrm>
            <a:off x="1401435" y="2141258"/>
            <a:ext cx="55503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fr-FR" b="1" dirty="0"/>
              <a:t>Adaptabilité École vs Entreprise :</a:t>
            </a:r>
            <a:r>
              <a:rPr lang="fr-FR" dirty="0"/>
              <a:t> </a:t>
            </a:r>
          </a:p>
          <a:p>
            <a:pPr fontAlgn="base"/>
            <a:r>
              <a:rPr lang="fr-FR" dirty="0"/>
              <a:t>Le formulaire </a:t>
            </a:r>
            <a:r>
              <a:rPr lang="fr-FR" dirty="0" err="1"/>
              <a:t>creation_quiz.php</a:t>
            </a:r>
            <a:r>
              <a:rPr lang="fr-FR" dirty="0"/>
              <a:t> s'adapte au rôle de l'utilisateur. </a:t>
            </a:r>
          </a:p>
          <a:p>
            <a:pPr fontAlgn="base"/>
            <a:r>
              <a:rPr lang="fr-FR" b="1" dirty="0"/>
              <a:t>École :</a:t>
            </a:r>
            <a:r>
              <a:rPr lang="fr-FR" dirty="0"/>
              <a:t> Force le type "QCM", affiche le champ "Points". </a:t>
            </a:r>
          </a:p>
          <a:p>
            <a:pPr fontAlgn="base"/>
            <a:r>
              <a:rPr lang="fr-FR" b="1" dirty="0"/>
              <a:t>Entreprise :</a:t>
            </a:r>
            <a:r>
              <a:rPr lang="fr-FR" dirty="0"/>
              <a:t> Permet le choix "QCM" ou "Réponse Libre". </a:t>
            </a:r>
          </a:p>
          <a:p>
            <a:pPr marL="0" indent="0" fontAlgn="base">
              <a:buNone/>
            </a:pPr>
            <a:r>
              <a:rPr lang="fr-FR" b="1" dirty="0"/>
              <a:t>Code Clé (Adaptation Formulaire) :</a:t>
            </a:r>
            <a:r>
              <a:rPr lang="fr-FR" dirty="0"/>
              <a:t> </a:t>
            </a:r>
          </a:p>
          <a:p>
            <a:pPr marL="0" indent="0" fontAlgn="base">
              <a:buNone/>
            </a:pPr>
            <a:r>
              <a:rPr lang="fr-FR" dirty="0"/>
              <a:t>&lt;?</a:t>
            </a:r>
            <a:r>
              <a:rPr lang="fr-FR" dirty="0" err="1"/>
              <a:t>php</a:t>
            </a:r>
            <a:r>
              <a:rPr lang="fr-FR" dirty="0"/>
              <a:t> if ($</a:t>
            </a:r>
            <a:r>
              <a:rPr lang="fr-FR" dirty="0" err="1"/>
              <a:t>user_role</a:t>
            </a:r>
            <a:r>
              <a:rPr lang="fr-FR" dirty="0"/>
              <a:t> === 'entreprise'): ?&gt; </a:t>
            </a:r>
            <a:br>
              <a:rPr lang="fr-FR" dirty="0"/>
            </a:br>
            <a:r>
              <a:rPr lang="fr-FR" dirty="0"/>
              <a:t>    &lt;select </a:t>
            </a:r>
            <a:r>
              <a:rPr lang="fr-FR" dirty="0" err="1"/>
              <a:t>name</a:t>
            </a:r>
            <a:r>
              <a:rPr lang="fr-FR" dirty="0"/>
              <a:t>="</a:t>
            </a:r>
            <a:r>
              <a:rPr lang="fr-FR" dirty="0" err="1"/>
              <a:t>type_question</a:t>
            </a:r>
            <a:r>
              <a:rPr lang="fr-FR" dirty="0"/>
              <a:t>"&gt; </a:t>
            </a:r>
            <a:br>
              <a:rPr lang="fr-FR" dirty="0"/>
            </a:br>
            <a:r>
              <a:rPr lang="fr-FR" dirty="0"/>
              <a:t>        &lt;option value="qcm"&gt;QCM&lt;/option&gt; </a:t>
            </a:r>
            <a:br>
              <a:rPr lang="fr-FR" dirty="0"/>
            </a:br>
            <a:r>
              <a:rPr lang="fr-FR" dirty="0"/>
              <a:t>        &lt;option value="</a:t>
            </a:r>
            <a:r>
              <a:rPr lang="fr-FR" dirty="0" err="1"/>
              <a:t>reponse_libre</a:t>
            </a:r>
            <a:r>
              <a:rPr lang="fr-FR" dirty="0"/>
              <a:t>"&gt;Réponse Libre&lt;/option&gt; </a:t>
            </a:r>
            <a:br>
              <a:rPr lang="fr-FR" dirty="0"/>
            </a:br>
            <a:r>
              <a:rPr lang="fr-FR" dirty="0"/>
              <a:t>    &lt;/select&gt; </a:t>
            </a:r>
            <a:br>
              <a:rPr lang="fr-FR" dirty="0"/>
            </a:br>
            <a:r>
              <a:rPr lang="fr-FR" dirty="0"/>
              <a:t>&lt;?</a:t>
            </a:r>
            <a:r>
              <a:rPr lang="fr-FR" dirty="0" err="1"/>
              <a:t>php</a:t>
            </a:r>
            <a:r>
              <a:rPr lang="fr-FR" dirty="0"/>
              <a:t> </a:t>
            </a:r>
            <a:r>
              <a:rPr lang="fr-FR" dirty="0" err="1"/>
              <a:t>endif</a:t>
            </a:r>
            <a:r>
              <a:rPr lang="fr-FR" dirty="0"/>
              <a:t>; ?&gt; </a:t>
            </a:r>
            <a:br>
              <a:rPr lang="fr-FR" dirty="0"/>
            </a:br>
            <a:r>
              <a:rPr lang="fr-FR" dirty="0"/>
              <a:t> </a:t>
            </a:r>
          </a:p>
          <a:p>
            <a:pPr marL="0" indent="0" fontAlgn="base">
              <a:lnSpc>
                <a:spcPct val="110000"/>
              </a:lnSpc>
              <a:buFont typeface="Arial" panose="020B0604020202020204" pitchFamily="34" charset="0"/>
              <a:buNone/>
            </a:pPr>
            <a:br>
              <a:rPr lang="fr-FR" sz="1000" dirty="0"/>
            </a:br>
            <a:r>
              <a:rPr lang="fr-FR" sz="1000" dirty="0"/>
              <a:t> </a:t>
            </a:r>
          </a:p>
        </p:txBody>
      </p:sp>
      <p:pic>
        <p:nvPicPr>
          <p:cNvPr id="3074" name="Picture 2" descr="Quiz icon stock vector. Illustration of checklist, circle - 170164971">
            <a:extLst>
              <a:ext uri="{FF2B5EF4-FFF2-40B4-BE49-F238E27FC236}">
                <a16:creationId xmlns:a16="http://schemas.microsoft.com/office/drawing/2014/main" id="{9AEF7F50-97B6-975F-8A98-F6354E854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624" y="1432879"/>
            <a:ext cx="3166553" cy="316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17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C70BFDB-979D-4D01-8764-154458F9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45FCB5B7-E85D-4C9D-AE9B-2B04C20D7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4C48EA7D-6DFA-4BAB-B557-0D500356B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9" y="482171"/>
            <a:ext cx="4074533" cy="5149101"/>
            <a:chOff x="632239" y="482171"/>
            <a:chExt cx="4074533" cy="5149101"/>
          </a:xfrm>
        </p:grpSpPr>
        <p:sp>
          <p:nvSpPr>
            <p:cNvPr id="4108" name="Rectangle 4107">
              <a:extLst>
                <a:ext uri="{FF2B5EF4-FFF2-40B4-BE49-F238E27FC236}">
                  <a16:creationId xmlns:a16="http://schemas.microsoft.com/office/drawing/2014/main" id="{0A792C74-3AEF-46D7-BB84-FE0A1C9FD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9" y="482171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9" name="Rectangle 4108">
              <a:extLst>
                <a:ext uri="{FF2B5EF4-FFF2-40B4-BE49-F238E27FC236}">
                  <a16:creationId xmlns:a16="http://schemas.microsoft.com/office/drawing/2014/main" id="{E3F01C4D-F010-44B1-B80D-DE6D0036F4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8" y="812507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66DEDBC9-7E02-4AC1-84C0-28900C560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042" y="977965"/>
            <a:ext cx="3124515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5D8167BA-4647-4588-9EF8-AFA0496DC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0359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0E3F3228-7243-35D4-2B06-E64F3203E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043" y="804520"/>
            <a:ext cx="5550355" cy="1049235"/>
          </a:xfrm>
        </p:spPr>
        <p:txBody>
          <a:bodyPr>
            <a:normAutofit/>
          </a:bodyPr>
          <a:lstStyle/>
          <a:p>
            <a:r>
              <a:rPr lang="fr-FR" dirty="0"/>
              <a:t>Réponse et Correction Automatique </a:t>
            </a:r>
          </a:p>
        </p:txBody>
      </p:sp>
      <p:pic>
        <p:nvPicPr>
          <p:cNvPr id="4098" name="Picture 2" descr="10+ Perfect 10 Score Stock Illustrations, graphiques vectoriels libre de  droits et Clip Art - iStock">
            <a:extLst>
              <a:ext uri="{FF2B5EF4-FFF2-40B4-BE49-F238E27FC236}">
                <a16:creationId xmlns:a16="http://schemas.microsoft.com/office/drawing/2014/main" id="{5FE67304-AA21-5577-C504-B397B5F78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1641" y="1515600"/>
            <a:ext cx="3060068" cy="306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5627DA-BDB9-69AC-932D-C3F751E39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043" y="2015732"/>
            <a:ext cx="5550355" cy="3450613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fr-FR" sz="1100" b="1"/>
              <a:t>Logique de Traitement (</a:t>
            </a:r>
            <a:r>
              <a:rPr lang="fr-FR" sz="1100" b="1" err="1"/>
              <a:t>traitement_reponse_quiz.php</a:t>
            </a:r>
            <a:r>
              <a:rPr lang="fr-FR" sz="1100" b="1"/>
              <a:t>) :</a:t>
            </a:r>
            <a:r>
              <a:rPr lang="fr-FR" sz="110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100"/>
              <a:t>Récupère les réponses soumises ($_POST). </a:t>
            </a:r>
          </a:p>
          <a:p>
            <a:pPr fontAlgn="base">
              <a:lnSpc>
                <a:spcPct val="110000"/>
              </a:lnSpc>
            </a:pPr>
            <a:r>
              <a:rPr lang="fr-FR" sz="1100"/>
              <a:t>Compare avec les bonnes réponses en BDD. </a:t>
            </a:r>
          </a:p>
          <a:p>
            <a:pPr fontAlgn="base">
              <a:lnSpc>
                <a:spcPct val="110000"/>
              </a:lnSpc>
            </a:pPr>
            <a:r>
              <a:rPr lang="fr-FR" sz="1100"/>
              <a:t>Calcule le score (pour les Écoles) ou enregistre les réponses (pour les Entreprises). </a:t>
            </a:r>
          </a:p>
          <a:p>
            <a:pPr fontAlgn="base">
              <a:lnSpc>
                <a:spcPct val="110000"/>
              </a:lnSpc>
            </a:pPr>
            <a:r>
              <a:rPr lang="fr-FR" sz="1100"/>
              <a:t>Insère le résultat global et les détails dans une transaction SQL unique.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100" b="1"/>
              <a:t>Extrait Code (Calcul Score) :</a:t>
            </a:r>
            <a:r>
              <a:rPr lang="fr-FR" sz="1100"/>
              <a:t>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100"/>
              <a:t>if ($data['type'] === 'qcm' &amp;&amp; </a:t>
            </a:r>
            <a:r>
              <a:rPr lang="fr-FR" sz="1100" err="1"/>
              <a:t>in_array</a:t>
            </a:r>
            <a:r>
              <a:rPr lang="fr-FR" sz="1100"/>
              <a:t>($</a:t>
            </a:r>
            <a:r>
              <a:rPr lang="fr-FR" sz="1100" err="1"/>
              <a:t>submitted_rid</a:t>
            </a:r>
            <a:r>
              <a:rPr lang="fr-FR" sz="1100"/>
              <a:t>, $data['</a:t>
            </a:r>
            <a:r>
              <a:rPr lang="fr-FR" sz="1100" err="1"/>
              <a:t>correct_answers</a:t>
            </a:r>
            <a:r>
              <a:rPr lang="fr-FR" sz="1100"/>
              <a:t>'])) { </a:t>
            </a:r>
            <a:br>
              <a:rPr lang="fr-FR" sz="1100"/>
            </a:br>
            <a:r>
              <a:rPr lang="fr-FR" sz="1100"/>
              <a:t>    if ($</a:t>
            </a:r>
            <a:r>
              <a:rPr lang="fr-FR" sz="1100" err="1"/>
              <a:t>createur_role</a:t>
            </a:r>
            <a:r>
              <a:rPr lang="fr-FR" sz="1100"/>
              <a:t> === '</a:t>
            </a:r>
            <a:r>
              <a:rPr lang="fr-FR" sz="1100" err="1"/>
              <a:t>ecole</a:t>
            </a:r>
            <a:r>
              <a:rPr lang="fr-FR" sz="1100"/>
              <a:t>') { </a:t>
            </a:r>
            <a:br>
              <a:rPr lang="fr-FR" sz="1100"/>
            </a:br>
            <a:r>
              <a:rPr lang="fr-FR" sz="1100"/>
              <a:t>        $</a:t>
            </a:r>
            <a:r>
              <a:rPr lang="fr-FR" sz="1100" err="1"/>
              <a:t>user_score</a:t>
            </a:r>
            <a:r>
              <a:rPr lang="fr-FR" sz="1100"/>
              <a:t> += $data['points']; // Ajout des points </a:t>
            </a:r>
            <a:br>
              <a:rPr lang="fr-FR" sz="1100"/>
            </a:br>
            <a:r>
              <a:rPr lang="fr-FR" sz="1100"/>
              <a:t>    } </a:t>
            </a:r>
            <a:br>
              <a:rPr lang="fr-FR" sz="1100"/>
            </a:br>
            <a:r>
              <a:rPr lang="fr-FR" sz="1100"/>
              <a:t>    $</a:t>
            </a:r>
            <a:r>
              <a:rPr lang="fr-FR" sz="1100" err="1"/>
              <a:t>correct_qcm_count</a:t>
            </a:r>
            <a:r>
              <a:rPr lang="fr-FR" sz="1100"/>
              <a:t>++; // Compteur pour pourcentage </a:t>
            </a:r>
            <a:br>
              <a:rPr lang="fr-FR" sz="1100"/>
            </a:br>
            <a:r>
              <a:rPr lang="fr-FR" sz="1100"/>
              <a:t>} </a:t>
            </a:r>
            <a:br>
              <a:rPr lang="fr-FR" sz="1100"/>
            </a:br>
            <a:endParaRPr lang="fr-FR" sz="1100"/>
          </a:p>
          <a:p>
            <a:pPr>
              <a:lnSpc>
                <a:spcPct val="110000"/>
              </a:lnSpc>
            </a:pPr>
            <a:endParaRPr lang="fr-FR" sz="1100"/>
          </a:p>
        </p:txBody>
      </p:sp>
      <p:pic>
        <p:nvPicPr>
          <p:cNvPr id="4115" name="Picture 4114">
            <a:extLst>
              <a:ext uri="{FF2B5EF4-FFF2-40B4-BE49-F238E27FC236}">
                <a16:creationId xmlns:a16="http://schemas.microsoft.com/office/drawing/2014/main" id="{BAC44D98-B853-4420-8ED4-E3792706D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117" name="Straight Connector 4116">
            <a:extLst>
              <a:ext uri="{FF2B5EF4-FFF2-40B4-BE49-F238E27FC236}">
                <a16:creationId xmlns:a16="http://schemas.microsoft.com/office/drawing/2014/main" id="{46625410-A0A9-42B8-96F9-540C7C42C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868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21A4066-B261-49FE-952E-A0FE3EE75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53" name="Straight Connector 6152">
            <a:extLst>
              <a:ext uri="{FF2B5EF4-FFF2-40B4-BE49-F238E27FC236}">
                <a16:creationId xmlns:a16="http://schemas.microsoft.com/office/drawing/2014/main" id="{381B4579-E2EA-4BD7-94FF-0A0BEE13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651655D4-6272-2497-3303-16128B44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fr-FR" sz="2700"/>
              <a:t>Tableaux de Bord et Visualisation </a:t>
            </a:r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81958111-BC13-4D45-AB27-0C2C83F9B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4083A2-4336-FFF8-0C88-93F12E81B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lnSpc>
                <a:spcPct val="110000"/>
              </a:lnSpc>
              <a:buNone/>
            </a:pPr>
            <a:r>
              <a:rPr lang="fr-FR" sz="1400" b="1" dirty="0"/>
              <a:t>Tableaux de Bord Riches :</a:t>
            </a:r>
            <a:r>
              <a:rPr lang="fr-FR" sz="1400" dirty="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400" b="1" dirty="0"/>
              <a:t>Utilisateur :</a:t>
            </a:r>
            <a:r>
              <a:rPr lang="fr-FR" sz="1400" dirty="0"/>
              <a:t> Historique des quiz passés, accès aux nouveaux quiz. </a:t>
            </a:r>
          </a:p>
          <a:p>
            <a:pPr fontAlgn="base">
              <a:lnSpc>
                <a:spcPct val="110000"/>
              </a:lnSpc>
            </a:pPr>
            <a:r>
              <a:rPr lang="fr-FR" sz="1400" b="1" dirty="0"/>
              <a:t>Créateurs :</a:t>
            </a:r>
            <a:r>
              <a:rPr lang="fr-FR" sz="1400" dirty="0"/>
              <a:t> Liste des quiz créés, statuts, et accès aux résultats.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400" b="1" dirty="0"/>
              <a:t>Visualisation des Résultats (Exemple Entreprise) :</a:t>
            </a:r>
            <a:r>
              <a:rPr lang="fr-FR" sz="1400" dirty="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400" dirty="0"/>
              <a:t>Calcul dynamique des pourcentages de réponse pour chaque question. </a:t>
            </a:r>
          </a:p>
          <a:p>
            <a:pPr fontAlgn="base">
              <a:lnSpc>
                <a:spcPct val="110000"/>
              </a:lnSpc>
            </a:pPr>
            <a:r>
              <a:rPr lang="fr-FR" sz="1400" dirty="0"/>
              <a:t>Permet une analyse rapide des sondages (ex: "80% ont répondu 'Oui'"). </a:t>
            </a:r>
          </a:p>
          <a:p>
            <a:pPr marL="0" indent="0" fontAlgn="base">
              <a:lnSpc>
                <a:spcPct val="110000"/>
              </a:lnSpc>
              <a:buNone/>
            </a:pPr>
            <a:r>
              <a:rPr lang="fr-FR" sz="1400" b="1" dirty="0"/>
              <a:t>Aperçu Visuel (CSS) :</a:t>
            </a:r>
            <a:r>
              <a:rPr lang="fr-FR" sz="1400" dirty="0"/>
              <a:t> </a:t>
            </a:r>
          </a:p>
          <a:p>
            <a:pPr fontAlgn="base">
              <a:lnSpc>
                <a:spcPct val="110000"/>
              </a:lnSpc>
            </a:pPr>
            <a:r>
              <a:rPr lang="fr-FR" sz="1400" dirty="0"/>
              <a:t>Utilisation de variables CSS (--</a:t>
            </a:r>
            <a:r>
              <a:rPr lang="fr-FR" sz="1400" dirty="0" err="1"/>
              <a:t>color-primary</a:t>
            </a:r>
            <a:r>
              <a:rPr lang="fr-FR" sz="1400" dirty="0"/>
              <a:t>) pour une charte graphique cohérente. </a:t>
            </a:r>
          </a:p>
          <a:p>
            <a:pPr fontAlgn="base">
              <a:lnSpc>
                <a:spcPct val="110000"/>
              </a:lnSpc>
            </a:pPr>
            <a:r>
              <a:rPr lang="fr-FR" sz="1400" dirty="0"/>
              <a:t>Design "</a:t>
            </a:r>
            <a:r>
              <a:rPr lang="fr-FR" sz="1400" dirty="0" err="1"/>
              <a:t>Card</a:t>
            </a:r>
            <a:r>
              <a:rPr lang="fr-FR" sz="1400" dirty="0"/>
              <a:t>" pour une lecture facile sur mobile et desktop</a:t>
            </a:r>
            <a:r>
              <a:rPr lang="fr-FR" sz="800" dirty="0"/>
              <a:t>. </a:t>
            </a:r>
          </a:p>
          <a:p>
            <a:pPr>
              <a:lnSpc>
                <a:spcPct val="110000"/>
              </a:lnSpc>
            </a:pPr>
            <a:endParaRPr lang="fr-FR" sz="800" dirty="0"/>
          </a:p>
        </p:txBody>
      </p:sp>
      <p:grpSp>
        <p:nvGrpSpPr>
          <p:cNvPr id="6157" name="Group 6156">
            <a:extLst>
              <a:ext uri="{FF2B5EF4-FFF2-40B4-BE49-F238E27FC236}">
                <a16:creationId xmlns:a16="http://schemas.microsoft.com/office/drawing/2014/main" id="{82188758-E18A-4CE5-9D03-F4BF5D887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6158" name="Rectangle 6157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9" name="Rectangle 6158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69EDA8A3-853F-DEBC-98CB-CD4A7E6DD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2843"/>
          <a:stretch>
            <a:fillRect/>
          </a:stretch>
        </p:blipFill>
        <p:spPr bwMode="auto">
          <a:xfrm>
            <a:off x="5865835" y="933450"/>
            <a:ext cx="5297921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1" name="Picture 6160">
            <a:extLst>
              <a:ext uri="{FF2B5EF4-FFF2-40B4-BE49-F238E27FC236}">
                <a16:creationId xmlns:a16="http://schemas.microsoft.com/office/drawing/2014/main" id="{D42F4933-2ECF-4EE5-BCE4-F19E3CA60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63" name="Straight Connector 6162">
            <a:extLst>
              <a:ext uri="{FF2B5EF4-FFF2-40B4-BE49-F238E27FC236}">
                <a16:creationId xmlns:a16="http://schemas.microsoft.com/office/drawing/2014/main" id="{C6FAC23C-014D-4AC5-AD1B-36F7D0E7E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0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929B3D-FD33-E6F3-BD6F-1AA659D9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Problèmes Rencontrés et Solutions 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CBF5A6-A18E-36AF-3273-850D241D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fr-FR" sz="1700" b="1" dirty="0"/>
              <a:t>Problème de Hachage (Erreur Connexion) :</a:t>
            </a:r>
            <a:r>
              <a:rPr lang="fr-FR" sz="1700" dirty="0"/>
              <a:t> </a:t>
            </a:r>
          </a:p>
          <a:p>
            <a:pPr fontAlgn="base"/>
            <a:r>
              <a:rPr lang="fr-FR" sz="1700" i="1" dirty="0"/>
              <a:t>Symptôme :</a:t>
            </a:r>
            <a:r>
              <a:rPr lang="fr-FR" sz="1700" dirty="0"/>
              <a:t> </a:t>
            </a:r>
            <a:r>
              <a:rPr lang="fr-FR" sz="1700" dirty="0" err="1"/>
              <a:t>password_verify</a:t>
            </a:r>
            <a:r>
              <a:rPr lang="fr-FR" sz="1700" dirty="0"/>
              <a:t> échouait systématiquement malgré un mot de passe correct. </a:t>
            </a:r>
          </a:p>
          <a:p>
            <a:pPr fontAlgn="base"/>
            <a:r>
              <a:rPr lang="fr-FR" sz="1700" i="1" dirty="0"/>
              <a:t>Cause :</a:t>
            </a:r>
            <a:r>
              <a:rPr lang="fr-FR" sz="1700" dirty="0"/>
              <a:t> Problème d'encodage/espaces invisibles entre MySQL et PHP. </a:t>
            </a:r>
          </a:p>
          <a:p>
            <a:pPr fontAlgn="base"/>
            <a:r>
              <a:rPr lang="fr-FR" sz="1700" i="1" dirty="0"/>
              <a:t>Solution :</a:t>
            </a:r>
            <a:r>
              <a:rPr lang="fr-FR" sz="1700" dirty="0"/>
              <a:t> Nettoyage des données (TRIM()) et typage strict de la colonne BDD. </a:t>
            </a:r>
          </a:p>
          <a:p>
            <a:pPr marL="0" indent="0" fontAlgn="base">
              <a:buNone/>
            </a:pPr>
            <a:r>
              <a:rPr lang="fr-FR" sz="1700" b="1" dirty="0"/>
              <a:t>Erreurs de Redirection (404) :</a:t>
            </a:r>
            <a:r>
              <a:rPr lang="fr-FR" sz="1700" dirty="0"/>
              <a:t> </a:t>
            </a:r>
          </a:p>
          <a:p>
            <a:pPr fontAlgn="base"/>
            <a:r>
              <a:rPr lang="fr-FR" sz="1700" i="1" dirty="0"/>
              <a:t>Symptôme :</a:t>
            </a:r>
            <a:r>
              <a:rPr lang="fr-FR" sz="1700" dirty="0"/>
              <a:t> Pages introuvables lors de la navigation. </a:t>
            </a:r>
          </a:p>
          <a:p>
            <a:pPr fontAlgn="base"/>
            <a:r>
              <a:rPr lang="fr-FR" sz="1700" i="1" dirty="0"/>
              <a:t>Cause :</a:t>
            </a:r>
            <a:r>
              <a:rPr lang="fr-FR" sz="1700" dirty="0"/>
              <a:t> Confusion entre extensions .html et .</a:t>
            </a:r>
            <a:r>
              <a:rPr lang="fr-FR" sz="1700" dirty="0" err="1"/>
              <a:t>php</a:t>
            </a:r>
            <a:r>
              <a:rPr lang="fr-FR" sz="1700" dirty="0"/>
              <a:t> dans les liens. </a:t>
            </a:r>
          </a:p>
          <a:p>
            <a:pPr fontAlgn="base"/>
            <a:r>
              <a:rPr lang="fr-FR" sz="1700" i="1" dirty="0"/>
              <a:t>Solution :</a:t>
            </a:r>
            <a:r>
              <a:rPr lang="fr-FR" sz="1700" dirty="0"/>
              <a:t> Standardisation de tous les fichiers dynamiques en .</a:t>
            </a:r>
            <a:r>
              <a:rPr lang="fr-FR" sz="1700" dirty="0" err="1"/>
              <a:t>php</a:t>
            </a:r>
            <a:r>
              <a:rPr lang="fr-FR" sz="1700" dirty="0"/>
              <a:t>.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1183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6D971-CEC5-BFAA-665A-A7ACE3B2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Gestion de Projet et Qualité 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D8D587-C5C1-79AF-539A-005E13C2F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fr-FR" sz="1700" b="1" dirty="0"/>
              <a:t>Méthodologie :</a:t>
            </a:r>
            <a:r>
              <a:rPr lang="fr-FR" sz="1700" dirty="0"/>
              <a:t> </a:t>
            </a:r>
          </a:p>
          <a:p>
            <a:pPr fontAlgn="base"/>
            <a:r>
              <a:rPr lang="fr-FR" sz="1700" b="1" dirty="0" err="1"/>
              <a:t>Versionning</a:t>
            </a:r>
            <a:r>
              <a:rPr lang="fr-FR" sz="1700" b="1" dirty="0"/>
              <a:t> :</a:t>
            </a:r>
            <a:r>
              <a:rPr lang="fr-FR" sz="1700" dirty="0"/>
              <a:t> Utilisation de Git/GitHub pour le suivi des modifications. </a:t>
            </a:r>
          </a:p>
          <a:p>
            <a:pPr fontAlgn="base"/>
            <a:r>
              <a:rPr lang="fr-FR" sz="1700" b="1" dirty="0"/>
              <a:t>Documentation :</a:t>
            </a:r>
            <a:r>
              <a:rPr lang="fr-FR" sz="1700" dirty="0"/>
              <a:t> Production de diagrammes UML et d'un guide d'installation. </a:t>
            </a:r>
          </a:p>
          <a:p>
            <a:pPr fontAlgn="base"/>
            <a:r>
              <a:rPr lang="fr-FR" sz="1700" b="1" dirty="0"/>
              <a:t>Tests :</a:t>
            </a:r>
            <a:r>
              <a:rPr lang="fr-FR" sz="1700" dirty="0"/>
              <a:t> Jeu de données de test complet (</a:t>
            </a:r>
            <a:r>
              <a:rPr lang="fr-FR" sz="1700" dirty="0" err="1"/>
              <a:t>Seed</a:t>
            </a:r>
            <a:r>
              <a:rPr lang="fr-FR" sz="1700" dirty="0"/>
              <a:t> Data) pour valider tous les scénarios (connexion, quiz, résultats). </a:t>
            </a:r>
          </a:p>
          <a:p>
            <a:pPr marL="0" indent="0" fontAlgn="base">
              <a:buNone/>
            </a:pPr>
            <a:r>
              <a:rPr lang="fr-FR" sz="1700" b="1" dirty="0"/>
              <a:t>Améliorations Apportées (Bonus) :</a:t>
            </a:r>
            <a:r>
              <a:rPr lang="fr-FR" sz="1700" dirty="0"/>
              <a:t> </a:t>
            </a:r>
          </a:p>
          <a:p>
            <a:pPr fontAlgn="base"/>
            <a:r>
              <a:rPr lang="fr-FR" sz="1700" dirty="0"/>
              <a:t>Ajout d'une page "Liste des Quiz Actifs" pour faciliter l'accès aux utilisateurs. </a:t>
            </a:r>
          </a:p>
          <a:p>
            <a:pPr fontAlgn="base"/>
            <a:r>
              <a:rPr lang="fr-FR" sz="1700" dirty="0"/>
              <a:t>Refonte complète du CSS pour un aspect professionnel.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912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0F47B6-2905-5FE4-0EB2-8442B58C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et Démo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9B3EBE-2825-B63B-4176-A824C678B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fr-FR" sz="1800" b="1" dirty="0"/>
              <a:t>Bilan :</a:t>
            </a:r>
            <a:r>
              <a:rPr lang="fr-FR" sz="1800" dirty="0"/>
              <a:t> </a:t>
            </a:r>
          </a:p>
          <a:p>
            <a:pPr fontAlgn="base"/>
            <a:r>
              <a:rPr lang="fr-FR" sz="1800" dirty="0"/>
              <a:t>Le projet respecte 100% du cahier des charges. </a:t>
            </a:r>
          </a:p>
          <a:p>
            <a:pPr fontAlgn="base"/>
            <a:r>
              <a:rPr lang="fr-FR" sz="1800" dirty="0"/>
              <a:t>La plateforme est fonctionnelle, sécurisée et évolutive. </a:t>
            </a:r>
          </a:p>
          <a:p>
            <a:pPr fontAlgn="base"/>
            <a:r>
              <a:rPr lang="fr-FR" sz="1800" dirty="0"/>
              <a:t>L'architecture choisie permet une maintenance facile. </a:t>
            </a:r>
          </a:p>
          <a:p>
            <a:pPr marL="0" indent="0" fontAlgn="base">
              <a:buNone/>
            </a:pPr>
            <a:r>
              <a:rPr lang="fr-FR" sz="1800" b="1" dirty="0"/>
              <a:t>Place à la Démonstration :</a:t>
            </a:r>
            <a:r>
              <a:rPr lang="fr-FR" sz="1800" dirty="0"/>
              <a:t> </a:t>
            </a:r>
          </a:p>
          <a:p>
            <a:pPr fontAlgn="base"/>
            <a:r>
              <a:rPr lang="fr-FR" sz="1800" dirty="0"/>
              <a:t>(Scénario de démo prévu : Connexion Admin -&gt; Création Quiz École -&gt; Réponse Utilisateur -&gt; Visualisation Note).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261685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64</TotalTime>
  <Words>1123</Words>
  <Application>Microsoft Office PowerPoint</Application>
  <PresentationFormat>Grand écran</PresentationFormat>
  <Paragraphs>87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Galerie</vt:lpstr>
      <vt:lpstr>Présentation du Projet : QUIZZEO </vt:lpstr>
      <vt:lpstr>Introduction et Objectifs </vt:lpstr>
      <vt:lpstr>Choix Techniques et Architecture </vt:lpstr>
      <vt:lpstr>Modélisation de la Base de Données</vt:lpstr>
      <vt:lpstr>Authentification Sécurisée</vt:lpstr>
      <vt:lpstr>Création Dynamique de Quiz </vt:lpstr>
      <vt:lpstr>Réponse et Correction Automatique </vt:lpstr>
      <vt:lpstr>Tableaux de Bord et Visualisation </vt:lpstr>
      <vt:lpstr>Problèmes Rencontrés et Solutions </vt:lpstr>
      <vt:lpstr>Gestion de Projet et Qualité </vt:lpstr>
      <vt:lpstr>Conclusion et Démo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Ulysse NOIRET</dc:creator>
  <cp:lastModifiedBy>Ulysse NOIRET</cp:lastModifiedBy>
  <cp:revision>2</cp:revision>
  <dcterms:created xsi:type="dcterms:W3CDTF">2025-12-04T14:18:53Z</dcterms:created>
  <dcterms:modified xsi:type="dcterms:W3CDTF">2025-12-04T15:23:13Z</dcterms:modified>
</cp:coreProperties>
</file>